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4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16895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7361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16363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Slide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2963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79132"/>
            <a:ext cx="89408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4D495-5F03-49B3-979A-D15B268EB9C2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2DD2D9-0C06-03FF-48F7-49D8CB317BA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09602" y="1477818"/>
            <a:ext cx="10977676" cy="469187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3579822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_Slide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79132"/>
            <a:ext cx="89408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4D495-5F03-49B3-979A-D15B268EB9C2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75BF395-8F11-30E9-B547-FE203DF8454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09601" y="1477818"/>
            <a:ext cx="10909400" cy="469187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1293441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lumn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279132"/>
            <a:ext cx="8929509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4D495-5F03-49B3-979A-D15B268EB9C2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8EEDED3-AE8F-0C8E-EDF9-6A7C31D1F1A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40977" y="1434769"/>
            <a:ext cx="6879889" cy="48213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A615699-86BB-CEEE-92C9-7C37C802AF2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1135" y="1434769"/>
            <a:ext cx="4011085" cy="48213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246532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lumn_Slide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79132"/>
            <a:ext cx="8929511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4D495-5F03-49B3-979A-D15B268EB9C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99F7D73-ACBE-E1C7-4A2B-543826F5E9E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02512" y="1449400"/>
            <a:ext cx="6879889" cy="48213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3ADD2AC-3E96-C51E-B21B-5F9FA06BB47C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449400"/>
            <a:ext cx="4011085" cy="48213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4162218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D9A25-A9BC-7CBD-9CD6-95F1C061F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5827A-A312-5DB6-9936-0E748C4E4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2922F-7F74-A38B-9652-DF2A81B1E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58737-1FEF-4F31-AFC6-EFAA0AD5FC7A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99204-6B5B-47FC-4381-D50CB5D45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1BC7E-6B68-AAD4-102C-F631AE07B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D495-5F03-49B3-979A-D15B268EB9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083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7982CC-22F2-BA36-0A31-A69497C6C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1" y="365126"/>
            <a:ext cx="9750425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AA92B-7E46-7C00-6AA0-370655180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1" y="1825625"/>
            <a:ext cx="975042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1312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ctr" defTabSz="342991" rtl="0" eaLnBrk="1" latinLnBrk="0" hangingPunct="1">
        <a:spcBef>
          <a:spcPct val="0"/>
        </a:spcBef>
        <a:buNone/>
        <a:defRPr sz="3301" kern="1200" baseline="0">
          <a:solidFill>
            <a:schemeClr val="tx1"/>
          </a:solidFill>
          <a:latin typeface="merriweather" charset="0"/>
          <a:ea typeface="+mj-ea"/>
          <a:cs typeface="+mj-cs"/>
        </a:defRPr>
      </a:lvl1pPr>
    </p:titleStyle>
    <p:bodyStyle>
      <a:lvl1pPr marL="257244" indent="-257244" algn="l" defTabSz="342991" rtl="0" eaLnBrk="1" latinLnBrk="0" hangingPunct="1">
        <a:spcBef>
          <a:spcPct val="20000"/>
        </a:spcBef>
        <a:buFont typeface="Arial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557361" indent="-214370" algn="l" defTabSz="342991" rtl="0" eaLnBrk="1" latinLnBrk="0" hangingPunct="1">
        <a:spcBef>
          <a:spcPct val="20000"/>
        </a:spcBef>
        <a:buFont typeface="Arial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857479" indent="-171496" algn="l" defTabSz="3429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470" indent="-171496" algn="l" defTabSz="3429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461" indent="-171496" algn="l" defTabSz="3429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hs.uk/health-assessment-tools/calculate-your-body-mass-index/calculate-bmi-for-children-teenagers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3479943-EDEC-C2A5-B0D6-2697CD2F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3635"/>
            <a:ext cx="10515600" cy="1325563"/>
          </a:xfrm>
        </p:spPr>
        <p:txBody>
          <a:bodyPr/>
          <a:lstStyle/>
          <a:p>
            <a:r>
              <a:rPr lang="en-US" sz="4000" dirty="0"/>
              <a:t>CF Obesity data – updated October data</a:t>
            </a:r>
          </a:p>
        </p:txBody>
      </p:sp>
    </p:spTree>
    <p:extLst>
      <p:ext uri="{BB962C8B-B14F-4D97-AF65-F5344CB8AC3E}">
        <p14:creationId xmlns:p14="http://schemas.microsoft.com/office/powerpoint/2010/main" val="205346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07F9-A60C-1517-9408-53193D7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A0461-A878-B155-13A5-83DA78BDE13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1" y="1477818"/>
            <a:ext cx="5378244" cy="469187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Data from 145,544 annual reviews of 13,429 individuals aged between 2 – 89, collected between 2007 – 2023.  </a:t>
            </a:r>
            <a:br>
              <a:rPr lang="en-GB" sz="1400" dirty="0"/>
            </a:br>
            <a:endParaRPr lang="en-GB" sz="1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31,474 child reviews were missing BMI percentile. BMI percentile was calculated using </a:t>
            </a:r>
            <a:r>
              <a:rPr lang="en-GB" sz="1400" dirty="0">
                <a:hlinkClick r:id="rId2"/>
              </a:rPr>
              <a:t>the NHS BMI calculator</a:t>
            </a:r>
            <a:r>
              <a:rPr lang="en-GB" sz="1400" dirty="0"/>
              <a:t>.</a:t>
            </a:r>
            <a:br>
              <a:rPr lang="en-GB" sz="1400" dirty="0"/>
            </a:br>
            <a:endParaRPr lang="en-GB" sz="1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Other variables: age, sex, ethnicity, mutation, FEV1%, number of IV days (home &amp; hospital), supplemental feeding by route (oral, nasogastric, gastronomy, jejunal, parenteral), microbiology (did the patient grow Pseudomonas, </a:t>
            </a:r>
            <a:r>
              <a:rPr lang="en-GB" sz="1400" dirty="0" err="1"/>
              <a:t>Bcenocepacia</a:t>
            </a:r>
            <a:r>
              <a:rPr lang="en-GB" sz="1400" dirty="0"/>
              <a:t>, </a:t>
            </a:r>
            <a:r>
              <a:rPr lang="en-GB" sz="1400" dirty="0" err="1"/>
              <a:t>Staph.aureus</a:t>
            </a:r>
            <a:r>
              <a:rPr lang="en-GB" sz="1400" dirty="0"/>
              <a:t>, </a:t>
            </a:r>
            <a:r>
              <a:rPr lang="en-GB" sz="1400" dirty="0" err="1"/>
              <a:t>Aspergillius</a:t>
            </a:r>
            <a:r>
              <a:rPr lang="en-GB" sz="1400" dirty="0"/>
              <a:t>), is the patient taking pancreatic enzyme supplements, CMPL NTM, employment status (2016 onwards), CFTR history, transplant history (liver, lung, kidney, pancreas).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8436F9-789F-AFE5-8F7A-7772F0A79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153210"/>
              </p:ext>
            </p:extLst>
          </p:nvPr>
        </p:nvGraphicFramePr>
        <p:xfrm>
          <a:off x="6641741" y="1719104"/>
          <a:ext cx="4940660" cy="3573780"/>
        </p:xfrm>
        <a:graphic>
          <a:graphicData uri="http://schemas.openxmlformats.org/drawingml/2006/table">
            <a:tbl>
              <a:tblPr/>
              <a:tblGrid>
                <a:gridCol w="988132">
                  <a:extLst>
                    <a:ext uri="{9D8B030D-6E8A-4147-A177-3AD203B41FA5}">
                      <a16:colId xmlns:a16="http://schemas.microsoft.com/office/drawing/2014/main" val="3106802350"/>
                    </a:ext>
                  </a:extLst>
                </a:gridCol>
                <a:gridCol w="988132">
                  <a:extLst>
                    <a:ext uri="{9D8B030D-6E8A-4147-A177-3AD203B41FA5}">
                      <a16:colId xmlns:a16="http://schemas.microsoft.com/office/drawing/2014/main" val="2374482109"/>
                    </a:ext>
                  </a:extLst>
                </a:gridCol>
                <a:gridCol w="988132">
                  <a:extLst>
                    <a:ext uri="{9D8B030D-6E8A-4147-A177-3AD203B41FA5}">
                      <a16:colId xmlns:a16="http://schemas.microsoft.com/office/drawing/2014/main" val="1278844235"/>
                    </a:ext>
                  </a:extLst>
                </a:gridCol>
                <a:gridCol w="988132">
                  <a:extLst>
                    <a:ext uri="{9D8B030D-6E8A-4147-A177-3AD203B41FA5}">
                      <a16:colId xmlns:a16="http://schemas.microsoft.com/office/drawing/2014/main" val="2185186657"/>
                    </a:ext>
                  </a:extLst>
                </a:gridCol>
                <a:gridCol w="988132">
                  <a:extLst>
                    <a:ext uri="{9D8B030D-6E8A-4147-A177-3AD203B41FA5}">
                      <a16:colId xmlns:a16="http://schemas.microsoft.com/office/drawing/2014/main" val="149010444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Number of annual reviews where…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233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Year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Number of annual reviews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Person seen for the first time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Person attended last years review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People missed last years review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6789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2007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4,232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4,232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4480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2008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5,766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2,128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3,638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0413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6,985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1,225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5,334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268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7,523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826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6,421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5948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8,204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7,221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74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8,374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7,752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9552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8,611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8,013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5944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9,027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8,272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9793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9,221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8,624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7008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9,358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8,765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0821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9,544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8,968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481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9,535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8,981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0034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9,760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9,097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0892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9,458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8,931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7895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9,893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9,045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8971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9,984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9,299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4685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10,069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9,322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323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799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5E9CA-47AF-6A18-EE7F-B77D5D7F7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7073-7189-4B19-C46A-4F060FE3E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BMI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67D3C-1617-4D59-64F5-BCF164A75D0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1" y="1477818"/>
            <a:ext cx="3932902" cy="469187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For each year the thick line is the median BMI, 50% of the data is between the upper &amp; lower lines of the box, and roughly 95% of the data is between the whiskers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BMI has gradually increased since 2018. The increase has happened in both adults &amp; children</a:t>
            </a:r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80643C2B-7E7A-2BBD-D868-D55520425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198" y="1188212"/>
            <a:ext cx="6556261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59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D6F7D-0FD8-C4E3-A61A-7E44A39A1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49013-D62D-1D10-BF29-C171636B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BMI groups – by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D7362-E5ED-E90A-DF35-9028616B09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1" y="1477818"/>
            <a:ext cx="3932902" cy="469187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Each point is the proportion of people in each weight group, the lighter line shows the uncertainty around the estimate. The more people in the group, the smaller the uncertainty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Adults have seen large increases in the proportion who are overweight or obese. There are also increases in children, but these are much smaller</a:t>
            </a:r>
          </a:p>
        </p:txBody>
      </p:sp>
      <p:pic>
        <p:nvPicPr>
          <p:cNvPr id="14" name="Picture 1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203A78D-FB65-29E1-06A5-4373F796D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88" y="1226569"/>
            <a:ext cx="5486411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99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BA325-53D6-61A9-D970-4BD178647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AC068-B3C7-43E1-6D7A-971596381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BMI groups – by pancreas supplement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BD864-0F1C-618E-454A-589F9289AAC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1" y="1477818"/>
            <a:ext cx="3932902" cy="469187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People receiving pancreas supplements have a much smaller increase in the proportion who are obese compared to people not receiving supplements</a:t>
            </a:r>
          </a:p>
        </p:txBody>
      </p:sp>
      <p:pic>
        <p:nvPicPr>
          <p:cNvPr id="9" name="Picture 8" descr="A graph of a number of people with different colored lines&#10;&#10;AI-generated content may be incorrect.">
            <a:extLst>
              <a:ext uri="{FF2B5EF4-FFF2-40B4-BE49-F238E27FC236}">
                <a16:creationId xmlns:a16="http://schemas.microsoft.com/office/drawing/2014/main" id="{CBCE33E3-56A2-89AA-5A3C-7A8FE8BC1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88" y="1226568"/>
            <a:ext cx="5486411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15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619ED-694E-05E9-E092-1464F2949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0C29-37A1-7001-ABB6-DA71EBFDC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BMI groups – by mutation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255DC-06E0-E91A-FFEE-7DAAA71E7EF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1" y="1477818"/>
            <a:ext cx="3932902" cy="469187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Similar trends across mutation groups – increases in overweight and slight increase in obese groups from 2020.</a:t>
            </a:r>
            <a:br>
              <a:rPr lang="en-GB" sz="1600" dirty="0"/>
            </a:br>
            <a:endParaRPr lang="en-GB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The increases are less pronounced in the no F508del group.</a:t>
            </a:r>
          </a:p>
        </p:txBody>
      </p:sp>
      <p:pic>
        <p:nvPicPr>
          <p:cNvPr id="7" name="Picture 6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DEBB27E1-9528-B732-8954-C4EF51551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87" y="1226568"/>
            <a:ext cx="5486411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641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1A769-89E1-72A5-1439-32DBDF3BE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DF16-70E7-A423-EFAA-153D168E4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BMI groups – by CF related diabetes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EE4E5-27DF-BC49-E604-17C04C1F65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1" y="1477818"/>
            <a:ext cx="3932902" cy="469187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Note: CFRD diagnosis data only available from 2016 onwards. This looks at if the person was on any treatment for CFRD.</a:t>
            </a:r>
            <a:br>
              <a:rPr lang="en-GB" sz="1600" dirty="0"/>
            </a:br>
            <a:endParaRPr lang="en-GB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Larger increase in the overweight group in people being treated for CFRD.</a:t>
            </a:r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D704A9E-AFE3-544D-ABB8-522672CBA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87" y="1226567"/>
            <a:ext cx="5486411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707453"/>
      </p:ext>
    </p:extLst>
  </p:cSld>
  <p:clrMapOvr>
    <a:masterClrMapping/>
  </p:clrMapOvr>
</p:sld>
</file>

<file path=ppt/theme/theme1.xml><?xml version="1.0" encoding="utf-8"?>
<a:theme xmlns:a="http://schemas.openxmlformats.org/drawingml/2006/main" name="Main_Presentation_Title_Page">
  <a:themeElements>
    <a:clrScheme name="Custom 1">
      <a:dk1>
        <a:srgbClr val="000000"/>
      </a:dk1>
      <a:lt1>
        <a:srgbClr val="FFFFFF"/>
      </a:lt1>
      <a:dk2>
        <a:srgbClr val="004550"/>
      </a:dk2>
      <a:lt2>
        <a:srgbClr val="2BAC6D"/>
      </a:lt2>
      <a:accent1>
        <a:srgbClr val="2BAC6D"/>
      </a:accent1>
      <a:accent2>
        <a:srgbClr val="004550"/>
      </a:accent2>
      <a:accent3>
        <a:srgbClr val="00ABCE"/>
      </a:accent3>
      <a:accent4>
        <a:srgbClr val="FBB800"/>
      </a:accent4>
      <a:accent5>
        <a:srgbClr val="E95B0C"/>
      </a:accent5>
      <a:accent6>
        <a:srgbClr val="B1B2B3"/>
      </a:accent6>
      <a:hlink>
        <a:srgbClr val="00ABCE"/>
      </a:hlink>
      <a:folHlink>
        <a:srgbClr val="B1B2B3"/>
      </a:folHlink>
    </a:clrScheme>
    <a:fontScheme name="LSHTM">
      <a:majorFont>
        <a:latin typeface="Merriweather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</Template>
  <TotalTime>0</TotalTime>
  <Words>470</Words>
  <Application>Microsoft Office PowerPoint</Application>
  <PresentationFormat>Widescreen</PresentationFormat>
  <Paragraphs>107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merriweather</vt:lpstr>
      <vt:lpstr>Open Sans</vt:lpstr>
      <vt:lpstr>Main_Presentation_Title_Page</vt:lpstr>
      <vt:lpstr>CF Obesity data – updated October data</vt:lpstr>
      <vt:lpstr>Data overview</vt:lpstr>
      <vt:lpstr>BMI trends</vt:lpstr>
      <vt:lpstr>BMI groups – by age</vt:lpstr>
      <vt:lpstr>BMI groups – by pancreas supplement</vt:lpstr>
      <vt:lpstr>BMI groups – by mutation group</vt:lpstr>
      <vt:lpstr>BMI groups – by CF related diabetes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Maguire</dc:creator>
  <cp:lastModifiedBy>Sean Maguire</cp:lastModifiedBy>
  <cp:revision>2</cp:revision>
  <dcterms:created xsi:type="dcterms:W3CDTF">2025-09-01T16:46:55Z</dcterms:created>
  <dcterms:modified xsi:type="dcterms:W3CDTF">2025-10-28T11:36:47Z</dcterms:modified>
</cp:coreProperties>
</file>